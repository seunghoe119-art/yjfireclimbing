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설명은 세 가지 선택만 기억하면 됩니다. 첫 화면에서 새로 설치했는지, 이미 설치된 소화기를 점검하는지, 이상이 있는지만 선택합니다. 화면은 코덱스에서 개편하신 3분할 시작 구조를 기준으로 만든 교육용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대원들에게 화면의 세 가지 버튼을 하나씩 읽어줍니다. 새 소화기 설치는 사진과 위치 등록, 정기점검은 기존 소화기 점검, 이상 신고는 문제가 생겼을 때 이용한다고 설명하세요.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업무 모두 처음에 대상과 행동을 선택하고, 현장 정보를 입력하고, 마지막에 완료합니다. 업무마다 필요한 입력이 조금 다르지만 흐름은 똑같습니다.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전에 실제 휴대전화 화면을 보여주고 QR 접속, 인터넷 연결, 카메라 권한과 위치 권한을 확인합니다. 브라우저에서 위치 기능이 차단되면 GPS 등록이 안 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사진은 설치 전과 설치 후 각각 한 장씩 필요합니다. 먼저 설치 전 상황을 담고, 설치가 완료된 뒤 설치된 소화기가 잘 보이게 촬영합니다. 촬영 후 화면에 사진이 잘 들어왔는지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부분에서 가장 많이 막힐 수 있습니다. 위치 정보에 동의하는 것과 실제로 위치를 가져오는 것은 별개입니다. 동의 표시를 하고 파란색 위치 가져오기 버튼을 눌러야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메모와 소속 대대 선택은 현재 코드 기준으로 선택사항입니다. 사진 두 장, 위치 확인, 동의까지 마쳐야 최종 전송 버튼을 누를 수 있습니다. 접수 요청 완료는 메일 전달 자체를 보증하는 메시지는 아니므로 관리자는 수신을 따로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정기점검을 선택하면 기존 설치 지점을 찾습니다. 지도 조작이 어려우면 목록을 이용해 소화기를 찾도록 안내하세요. 각 소화기의 QR을 직접 열 수 있도록 연결해 두었다면 그 방법이 더 쉽습니다. QR별 바로가기 기능은 실제 배포 구현을 확인해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위치 확인은 실제 코드에서 10m 이내로 제한됩니다. GPS 오차로 진행되지 않을 수 있으니 장애물 없는 실외에서 다시 확인하도록 안내합니다. 네 항목을 살펴보고 소속 대대와 점검 메모를 입력해야 완료할 수 있습니다. 점검 사진은 선택사항입니다.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 신고는 소화기가 없거나, 파손되었거나, 접근하기 어려울 때 사용합니다. 문제 유형을 하나 선택하고 무엇이 문제인지 적습니다. 현재 코드에서는 이상 신고가 이메일로 전송되지 않고 관리자 목록에 접수됩니다.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전송 버튼이 회색이면 사진 두 장, 위치, 동의를 순서대로 확인합니다. GPS는 권한 허용과 실외 이동 후 재시도를 안내합니다. 점검이 안 된다면 현장 가까이에서 위치를 다시 받아야 합니다. 인터넷이 불안정하면 같은 접수를 반복 전송하지 않도록 관리자에게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5분만 직접 눌러보겠습니다. 설치 등록은 사진과 GPS 버튼 위치를 찾습니다. 정기점검은 소화기 위치와 체크리스트를 확인합니다. 이상 신고는 신고 종류와 메모 칸까지 봅니다. 실제 운영 데이터가 들어가지 않도록 실습용 안내에 따릅니다.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요약합니다. 새로 설치는 설치 등록, 평소 점검은 정기점검, 문제가 생겼다면 이상 신고입니다. QR을 통해 접속하면 됩니다. 배포된 첫 화면이 이 교육용 예시와 동일한지 교육 전에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3703320"/>
            <a:ext cx="3931920" cy="2980944"/>
          </a:xfrm>
          <a:prstGeom prst="ellipse">
            <a:avLst/>
          </a:prstGeom>
          <a:solidFill>
            <a:srgbClr val="23517B">
              <a:alpha val="37000"/>
            </a:srgbClr>
          </a:solidFill>
          <a:ln w="12700">
            <a:solidFill>
              <a:srgbClr val="23517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91472" y="54864"/>
            <a:ext cx="2606040" cy="2423160"/>
          </a:xfrm>
          <a:prstGeom prst="ellipse">
            <a:avLst/>
          </a:prstGeom>
          <a:solidFill>
            <a:srgbClr val="306496">
              <a:alpha val="40000"/>
            </a:srgbClr>
          </a:solidFill>
          <a:ln w="12700">
            <a:solidFill>
              <a:srgbClr val="3064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" y="658368"/>
            <a:ext cx="1938528" cy="310896"/>
          </a:xfrm>
          <a:prstGeom prst="roundRect">
            <a:avLst>
              <a:gd name="adj" fmla="val 32353"/>
            </a:avLst>
          </a:prstGeom>
          <a:solidFill>
            <a:srgbClr val="F4BC57"/>
          </a:solidFill>
          <a:ln w="12700">
            <a:solidFill>
              <a:srgbClr val="F4BC5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69037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대원 교육용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335024"/>
            <a:ext cx="6537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가지만 기억하면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누구나 할 수 있습니다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55264"/>
            <a:ext cx="6217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4E8F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D4E8F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소화기 관리프로그램 사용 안내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49808" y="5047488"/>
            <a:ext cx="5120640" cy="676656"/>
          </a:xfrm>
          <a:prstGeom prst="roundRect">
            <a:avLst>
              <a:gd name="adj" fmla="val 25676"/>
            </a:avLst>
          </a:prstGeom>
          <a:solidFill>
            <a:srgbClr val="204569"/>
          </a:solidFill>
          <a:ln w="12700">
            <a:solidFill>
              <a:srgbClr val="20456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5248656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등록  ·  정기점검  ·  이상 신고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0664" y="64373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2D6E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스마트폰 현장 사용 교육  |  2026.10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932688"/>
            <a:ext cx="3337560" cy="5340096"/>
          </a:xfrm>
          <a:prstGeom prst="roundRect">
            <a:avLst>
              <a:gd name="adj" fmla="val 9041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68996" y="1060704"/>
            <a:ext cx="3127248" cy="507492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39428" y="1014984"/>
            <a:ext cx="786384" cy="109728"/>
          </a:xfrm>
          <a:prstGeom prst="roundRect">
            <a:avLst>
              <a:gd name="adj" fmla="val 50000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9288" y="1225296"/>
            <a:ext cx="3026664" cy="502920"/>
          </a:xfrm>
          <a:prstGeom prst="roundRect">
            <a:avLst>
              <a:gd name="adj" fmla="val 21818"/>
            </a:avLst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9016" y="1316736"/>
            <a:ext cx="2807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하시겠어요?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74152" y="1975104"/>
            <a:ext cx="2916936" cy="1005840"/>
          </a:xfrm>
          <a:prstGeom prst="roundRect">
            <a:avLst>
              <a:gd name="adj" fmla="val 12727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0456" y="2185416"/>
            <a:ext cx="402336" cy="40233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750808" y="20848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소화기 설치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750808" y="2432304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사진과 위치 등록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74152" y="3118104"/>
            <a:ext cx="2916936" cy="1005840"/>
          </a:xfrm>
          <a:prstGeom prst="roundRect">
            <a:avLst>
              <a:gd name="adj" fmla="val 12727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0456" y="3328416"/>
            <a:ext cx="402336" cy="4023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50808" y="32278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소화기 점검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750808" y="3575304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확인·점검 기록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074152" y="4261104"/>
            <a:ext cx="2916936" cy="1005840"/>
          </a:xfrm>
          <a:prstGeom prst="roundRect">
            <a:avLst>
              <a:gd name="adj" fmla="val 12727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0456" y="4471416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50808" y="43708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고장·이상 신고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750808" y="4718304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발견 즉시 신고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854696" y="6391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ED5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시작 화면은 교육용 구성 예시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/ 시작 화면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시작할 때, 하실 일 하나만 누르세요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복잡한 메뉴를 찾을 필요 없이 현장 업무에 맞춰 선택합니다.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3456432" cy="3538728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212848"/>
            <a:ext cx="3090672" cy="832104"/>
          </a:xfrm>
          <a:prstGeom prst="roundRect">
            <a:avLst>
              <a:gd name="adj" fmla="val 15385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544" y="2395728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53896" y="237744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 설치했다면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3816" y="3300984"/>
            <a:ext cx="30358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소화기 설치 등록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932688" y="4050792"/>
            <a:ext cx="2779776" cy="0"/>
          </a:xfrm>
          <a:prstGeom prst="line">
            <a:avLst/>
          </a:prstGeom>
          <a:noFill/>
          <a:ln w="11430">
            <a:solidFill>
              <a:srgbClr val="DCE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306824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전·후 사진과 위치를 등록합니다.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242816" y="2011680"/>
            <a:ext cx="3456432" cy="3538728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25696" y="2212848"/>
            <a:ext cx="3090672" cy="832104"/>
          </a:xfrm>
          <a:prstGeom prst="roundRect">
            <a:avLst>
              <a:gd name="adj" fmla="val 15385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395728"/>
            <a:ext cx="438912" cy="4389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02352" y="237744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설치된 소화기라면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462272" y="3300984"/>
            <a:ext cx="30358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소화기 정기점검</a:t>
            </a:r>
            <a:endParaRPr lang="en-US" sz="2300" dirty="0"/>
          </a:p>
        </p:txBody>
      </p:sp>
      <p:sp>
        <p:nvSpPr>
          <p:cNvPr id="21" name="Shape 17"/>
          <p:cNvSpPr/>
          <p:nvPr/>
        </p:nvSpPr>
        <p:spPr>
          <a:xfrm>
            <a:off x="4581144" y="4050792"/>
            <a:ext cx="2779776" cy="0"/>
          </a:xfrm>
          <a:prstGeom prst="line">
            <a:avLst/>
          </a:prstGeom>
          <a:noFill/>
          <a:ln w="11430">
            <a:solidFill>
              <a:srgbClr val="DCE5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81144" y="4306824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상태를 확인하고 점검 결과를 남깁니다.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7891272" y="2011680"/>
            <a:ext cx="3456432" cy="3538728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074152" y="2212848"/>
            <a:ext cx="3090672" cy="832104"/>
          </a:xfrm>
          <a:prstGeom prst="roundRect">
            <a:avLst>
              <a:gd name="adj" fmla="val 15385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0456" y="2395728"/>
            <a:ext cx="438912" cy="4389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50808" y="237744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문제가 발견됐다면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8110728" y="3300984"/>
            <a:ext cx="30358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고장·이상 신고</a:t>
            </a:r>
            <a:endParaRPr lang="en-US" sz="2300" dirty="0"/>
          </a:p>
        </p:txBody>
      </p:sp>
      <p:sp>
        <p:nvSpPr>
          <p:cNvPr id="28" name="Shape 23"/>
          <p:cNvSpPr/>
          <p:nvPr/>
        </p:nvSpPr>
        <p:spPr>
          <a:xfrm>
            <a:off x="8229600" y="4050792"/>
            <a:ext cx="2779776" cy="0"/>
          </a:xfrm>
          <a:prstGeom prst="line">
            <a:avLst/>
          </a:prstGeom>
          <a:noFill/>
          <a:ln w="11430">
            <a:solidFill>
              <a:srgbClr val="DCE5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229600" y="4306824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고장·분실·파손 등을 신고합니다.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2304288" y="5760720"/>
            <a:ext cx="7589520" cy="402336"/>
          </a:xfrm>
          <a:prstGeom prst="roundRect">
            <a:avLst>
              <a:gd name="adj" fmla="val 27273"/>
            </a:avLst>
          </a:prstGeom>
          <a:solidFill>
            <a:srgbClr val="FFF7E8"/>
          </a:solidFill>
          <a:ln w="12700">
            <a:solidFill>
              <a:srgbClr val="FFF7E8">
                <a:alpha val="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496312" y="5833872"/>
            <a:ext cx="7196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핵심: “내가 할 일”부터 선택합니다.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/ 전체 흐름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일을 선택하든 순서는 간단합니다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복잡한 설명보다 “선택 → 입력 → 완료”의 흐름만 이해하면 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2039112"/>
            <a:ext cx="2075688" cy="877824"/>
          </a:xfrm>
          <a:prstGeom prst="roundRect">
            <a:avLst>
              <a:gd name="adj" fmla="val 15625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2267712"/>
            <a:ext cx="393192" cy="3931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53312" y="2240280"/>
            <a:ext cx="1216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등록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3127248" y="2039112"/>
            <a:ext cx="2240280" cy="877824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55264" y="2286000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전·후 사진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77256" y="2463028"/>
            <a:ext cx="299557" cy="0"/>
          </a:xfrm>
          <a:prstGeom prst="line">
            <a:avLst/>
          </a:prstGeom>
          <a:noFill/>
          <a:ln w="33020">
            <a:solidFill>
              <a:srgbClr val="2378BD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897880" y="2039112"/>
            <a:ext cx="2240280" cy="877824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25896" y="2286000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 확인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247888" y="2463028"/>
            <a:ext cx="299557" cy="0"/>
          </a:xfrm>
          <a:prstGeom prst="line">
            <a:avLst/>
          </a:prstGeom>
          <a:noFill/>
          <a:ln w="33020">
            <a:solidFill>
              <a:srgbClr val="2378BD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668512" y="2039112"/>
            <a:ext cx="2240280" cy="877824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286000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 확인 후 전송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76656" y="3300984"/>
            <a:ext cx="2075688" cy="877824"/>
          </a:xfrm>
          <a:prstGeom prst="roundRect">
            <a:avLst>
              <a:gd name="adj" fmla="val 15625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248" y="3529584"/>
            <a:ext cx="393192" cy="39319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53312" y="3502152"/>
            <a:ext cx="1216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정기점검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3127248" y="3300984"/>
            <a:ext cx="2240280" cy="877824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55264" y="354787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점검할 소화기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5477256" y="3724900"/>
            <a:ext cx="299557" cy="0"/>
          </a:xfrm>
          <a:prstGeom prst="line">
            <a:avLst/>
          </a:prstGeom>
          <a:noFill/>
          <a:ln w="33020">
            <a:solidFill>
              <a:srgbClr val="208A7F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5897880" y="3300984"/>
            <a:ext cx="2240280" cy="877824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025896" y="354787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상태·현장 위치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8247888" y="3724900"/>
            <a:ext cx="299557" cy="0"/>
          </a:xfrm>
          <a:prstGeom prst="line">
            <a:avLst/>
          </a:prstGeom>
          <a:noFill/>
          <a:ln w="33020">
            <a:solidFill>
              <a:srgbClr val="208A7F"/>
            </a:solidFill>
            <a:prstDash val="solid"/>
            <a:headEnd type="none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8668512" y="3300984"/>
            <a:ext cx="2240280" cy="877824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796528" y="3547872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 결과 저장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676656" y="4562856"/>
            <a:ext cx="2075688" cy="877824"/>
          </a:xfrm>
          <a:prstGeom prst="roundRect">
            <a:avLst>
              <a:gd name="adj" fmla="val 15625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4791456"/>
            <a:ext cx="393192" cy="39319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353312" y="4764024"/>
            <a:ext cx="1216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신고</a:t>
            </a:r>
            <a:endParaRPr lang="en-US" sz="1900" dirty="0"/>
          </a:p>
        </p:txBody>
      </p:sp>
      <p:sp>
        <p:nvSpPr>
          <p:cNvPr id="34" name="Shape 29"/>
          <p:cNvSpPr/>
          <p:nvPr/>
        </p:nvSpPr>
        <p:spPr>
          <a:xfrm>
            <a:off x="3127248" y="4562856"/>
            <a:ext cx="2240280" cy="877824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255264" y="4809744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있는 소화기</a:t>
            </a:r>
            <a:endParaRPr lang="en-US" sz="1700" dirty="0"/>
          </a:p>
        </p:txBody>
      </p:sp>
      <p:sp>
        <p:nvSpPr>
          <p:cNvPr id="36" name="Shape 31"/>
          <p:cNvSpPr/>
          <p:nvPr/>
        </p:nvSpPr>
        <p:spPr>
          <a:xfrm>
            <a:off x="5477256" y="4986772"/>
            <a:ext cx="299557" cy="0"/>
          </a:xfrm>
          <a:prstGeom prst="line">
            <a:avLst/>
          </a:prstGeom>
          <a:noFill/>
          <a:ln w="33020">
            <a:solidFill>
              <a:srgbClr val="CF584C"/>
            </a:solidFill>
            <a:prstDash val="solid"/>
            <a:headEnd type="none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5897880" y="4562856"/>
            <a:ext cx="2240280" cy="877824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025896" y="4809744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종류·내용</a:t>
            </a:r>
            <a:endParaRPr lang="en-US" sz="1700" dirty="0"/>
          </a:p>
        </p:txBody>
      </p:sp>
      <p:sp>
        <p:nvSpPr>
          <p:cNvPr id="39" name="Shape 34"/>
          <p:cNvSpPr/>
          <p:nvPr/>
        </p:nvSpPr>
        <p:spPr>
          <a:xfrm>
            <a:off x="8247888" y="4986772"/>
            <a:ext cx="299557" cy="0"/>
          </a:xfrm>
          <a:prstGeom prst="line">
            <a:avLst/>
          </a:prstGeom>
          <a:noFill/>
          <a:ln w="33020">
            <a:solidFill>
              <a:srgbClr val="CF584C"/>
            </a:solidFill>
            <a:prstDash val="solid"/>
            <a:headEnd type="none"/>
            <a:tailEnd type="triangle"/>
          </a:ln>
        </p:spPr>
      </p:sp>
      <p:sp>
        <p:nvSpPr>
          <p:cNvPr id="40" name="Shape 35"/>
          <p:cNvSpPr/>
          <p:nvPr/>
        </p:nvSpPr>
        <p:spPr>
          <a:xfrm>
            <a:off x="8668512" y="4562856"/>
            <a:ext cx="2240280" cy="877824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796528" y="4809744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 접수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/ 사용 준비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현장에서 시작하기 전, 이것만 확인하세요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QR 접속 후 아래 네 가지만 확인하면 대부분의 사용 문제가 줄어듭니다.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2103120"/>
            <a:ext cx="2423160" cy="2889504"/>
          </a:xfrm>
          <a:prstGeom prst="roundRect">
            <a:avLst>
              <a:gd name="adj" fmla="val 79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304288"/>
            <a:ext cx="2020824" cy="822960"/>
          </a:xfrm>
          <a:prstGeom prst="roundRect">
            <a:avLst>
              <a:gd name="adj" fmla="val 16667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7632" y="2432304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536" y="33649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" y="3694176"/>
            <a:ext cx="2203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QR코드 찍기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59536" y="419709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휴대전화 카메라로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소화기 관리 사이트 열기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20440" y="2103120"/>
            <a:ext cx="2423160" cy="2889504"/>
          </a:xfrm>
          <a:prstGeom prst="roundRect">
            <a:avLst>
              <a:gd name="adj" fmla="val 79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21608" y="2304288"/>
            <a:ext cx="2020824" cy="822960"/>
          </a:xfrm>
          <a:prstGeom prst="roundRect">
            <a:avLst>
              <a:gd name="adj" fmla="val 16667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1416" y="2432304"/>
            <a:ext cx="512064" cy="5120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03320" y="33649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30168" y="3694176"/>
            <a:ext cx="2203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인터넷 연결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3703320" y="419709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또는 와이파이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 확인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364224" y="2103120"/>
            <a:ext cx="2423160" cy="2889504"/>
          </a:xfrm>
          <a:prstGeom prst="roundRect">
            <a:avLst>
              <a:gd name="adj" fmla="val 79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565392" y="2304288"/>
            <a:ext cx="2020824" cy="822960"/>
          </a:xfrm>
          <a:prstGeom prst="roundRect">
            <a:avLst>
              <a:gd name="adj" fmla="val 16667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0" y="2432304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47104" y="33649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73952" y="3694176"/>
            <a:ext cx="2203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 허용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6547104" y="419709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 촬영·앨범 사용 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요청이 나오면 허용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208008" y="2103120"/>
            <a:ext cx="2423160" cy="2889504"/>
          </a:xfrm>
          <a:prstGeom prst="roundRect">
            <a:avLst>
              <a:gd name="adj" fmla="val 7925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409176" y="2304288"/>
            <a:ext cx="2020824" cy="822960"/>
          </a:xfrm>
          <a:prstGeom prst="roundRect">
            <a:avLst>
              <a:gd name="adj" fmla="val 16667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58984" y="2432304"/>
            <a:ext cx="512064" cy="5120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90888" y="33649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317736" y="3694176"/>
            <a:ext cx="2203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 허용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9390888" y="419709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휴대전화 위치 기능을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켜고 위치 권한 허용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1261872" y="5330952"/>
            <a:ext cx="9683496" cy="585216"/>
          </a:xfrm>
          <a:prstGeom prst="roundRect">
            <a:avLst>
              <a:gd name="adj" fmla="val 21875"/>
            </a:avLst>
          </a:prstGeom>
          <a:solidFill>
            <a:srgbClr val="FFF7E8"/>
          </a:solidFill>
          <a:ln w="12700">
            <a:solidFill>
              <a:srgbClr val="FFF7E8">
                <a:alpha val="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490472" y="5477256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팁  |  카카오톡 안에서 잘 안 되면 Chrome 또는 Safari로 열어보세요.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설치 등록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설치 전 사진, ② 설치 후 사진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“사진 두 장”이 필요하다는 점을 가장 먼저 알려주세요.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911096"/>
            <a:ext cx="3337560" cy="4133088"/>
          </a:xfrm>
          <a:prstGeom prst="roundRect">
            <a:avLst>
              <a:gd name="adj" fmla="val 9041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836" y="2039112"/>
            <a:ext cx="3127248" cy="386791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4268" y="1993392"/>
            <a:ext cx="786384" cy="109728"/>
          </a:xfrm>
          <a:prstGeom prst="roundRect">
            <a:avLst>
              <a:gd name="adj" fmla="val 50000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203704"/>
            <a:ext cx="3026664" cy="502920"/>
          </a:xfrm>
          <a:prstGeom prst="roundRect">
            <a:avLst>
              <a:gd name="adj" fmla="val 21818"/>
            </a:avLst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295144"/>
            <a:ext cx="2807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소화기 설치 등록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289864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설치 전 사진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78992" y="3227832"/>
            <a:ext cx="2916936" cy="795528"/>
          </a:xfrm>
          <a:prstGeom prst="roundRect">
            <a:avLst>
              <a:gd name="adj" fmla="val 12644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3584" y="3392424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764792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 촬영 / 앨범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78992" y="4197096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설치 후 사진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78992" y="4526280"/>
            <a:ext cx="2916936" cy="795528"/>
          </a:xfrm>
          <a:prstGeom prst="roundRect">
            <a:avLst>
              <a:gd name="adj" fmla="val 12644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3584" y="469087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764792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 촬영 / 앨범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78992" y="5596128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사진 모두 필요합니다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54880" y="22219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 찍는 요령</a:t>
            </a:r>
            <a:endParaRPr lang="en-US" sz="2600" dirty="0"/>
          </a:p>
        </p:txBody>
      </p:sp>
      <p:sp>
        <p:nvSpPr>
          <p:cNvPr id="24" name="Shape 20"/>
          <p:cNvSpPr/>
          <p:nvPr/>
        </p:nvSpPr>
        <p:spPr>
          <a:xfrm>
            <a:off x="4754880" y="3026664"/>
            <a:ext cx="109728" cy="109728"/>
          </a:xfrm>
          <a:prstGeom prst="ellipse">
            <a:avLst/>
          </a:prstGeom>
          <a:solidFill>
            <a:srgbClr val="2378BD"/>
          </a:solidFill>
          <a:ln w="12700">
            <a:solidFill>
              <a:srgbClr val="2378BD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92624" y="2907792"/>
            <a:ext cx="6254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전: 소화기 놓기 전 주변 모습</a:t>
            </a:r>
            <a:endParaRPr lang="en-US" sz="2100" dirty="0"/>
          </a:p>
        </p:txBody>
      </p:sp>
      <p:sp>
        <p:nvSpPr>
          <p:cNvPr id="26" name="Shape 22"/>
          <p:cNvSpPr/>
          <p:nvPr/>
        </p:nvSpPr>
        <p:spPr>
          <a:xfrm>
            <a:off x="4754880" y="3685032"/>
            <a:ext cx="109728" cy="109728"/>
          </a:xfrm>
          <a:prstGeom prst="ellipse">
            <a:avLst/>
          </a:prstGeom>
          <a:solidFill>
            <a:srgbClr val="2378BD"/>
          </a:solidFill>
          <a:ln w="12700">
            <a:solidFill>
              <a:srgbClr val="2378BD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92624" y="3566160"/>
            <a:ext cx="6254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후: 소화기와 거치대가 잘 보이게</a:t>
            </a:r>
            <a:endParaRPr lang="en-US" sz="2100" dirty="0"/>
          </a:p>
        </p:txBody>
      </p:sp>
      <p:sp>
        <p:nvSpPr>
          <p:cNvPr id="28" name="Shape 24"/>
          <p:cNvSpPr/>
          <p:nvPr/>
        </p:nvSpPr>
        <p:spPr>
          <a:xfrm>
            <a:off x="4754880" y="4343400"/>
            <a:ext cx="109728" cy="109728"/>
          </a:xfrm>
          <a:prstGeom prst="ellipse">
            <a:avLst/>
          </a:prstGeom>
          <a:solidFill>
            <a:srgbClr val="2378BD"/>
          </a:solidFill>
          <a:ln w="12700">
            <a:solidFill>
              <a:srgbClr val="2378BD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92624" y="4224528"/>
            <a:ext cx="6254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사진을 고른 뒤 미리보기가 뜨는지 확인</a:t>
            </a:r>
            <a:endParaRPr lang="en-US" sz="2100" dirty="0"/>
          </a:p>
        </p:txBody>
      </p:sp>
      <p:sp>
        <p:nvSpPr>
          <p:cNvPr id="30" name="Shape 26"/>
          <p:cNvSpPr/>
          <p:nvPr/>
        </p:nvSpPr>
        <p:spPr>
          <a:xfrm>
            <a:off x="4754880" y="5038344"/>
            <a:ext cx="6245352" cy="658368"/>
          </a:xfrm>
          <a:prstGeom prst="roundRect">
            <a:avLst>
              <a:gd name="adj" fmla="val 18056"/>
            </a:avLst>
          </a:prstGeom>
          <a:solidFill>
            <a:srgbClr val="FFF7E8"/>
          </a:solidFill>
          <a:ln w="12700">
            <a:solidFill>
              <a:srgbClr val="FFF7E8">
                <a:alpha val="0"/>
              </a:srgbClr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9472" y="5184648"/>
            <a:ext cx="338328" cy="33832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394960" y="517550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사진이 한 장만 있으면 전송 버튼이 안 눌릴 수 있어요.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설치 등록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GPS는 “동의”만으로 끝나지 않습니다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 동의 후 반드시 “현재 위치 가져오기”를 누르세요.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9536" y="1929384"/>
            <a:ext cx="3291840" cy="4133088"/>
          </a:xfrm>
          <a:prstGeom prst="roundRect">
            <a:avLst>
              <a:gd name="adj" fmla="val 9167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" y="2057400"/>
            <a:ext cx="3081528" cy="3867912"/>
          </a:xfrm>
          <a:prstGeom prst="roundRect">
            <a:avLst>
              <a:gd name="adj" fmla="val 71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12264" y="2011680"/>
            <a:ext cx="786384" cy="109728"/>
          </a:xfrm>
          <a:prstGeom prst="roundRect">
            <a:avLst>
              <a:gd name="adj" fmla="val 50000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" y="2221992"/>
            <a:ext cx="2980944" cy="502920"/>
          </a:xfrm>
          <a:prstGeom prst="roundRect">
            <a:avLst>
              <a:gd name="adj" fmla="val 21818"/>
            </a:avLst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2313432"/>
            <a:ext cx="2761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현재 위치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9848" y="2926080"/>
            <a:ext cx="2871216" cy="621792"/>
          </a:xfrm>
          <a:prstGeom prst="roundRect">
            <a:avLst>
              <a:gd name="adj" fmla="val 14706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3054096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☑  위치 사용에 동의합니다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69848" y="3730752"/>
            <a:ext cx="2871216" cy="630936"/>
          </a:xfrm>
          <a:prstGeom prst="roundRect">
            <a:avLst>
              <a:gd name="adj" fmla="val 17391"/>
            </a:avLst>
          </a:prstGeom>
          <a:solidFill>
            <a:srgbClr val="2378BD"/>
          </a:solidFill>
          <a:ln w="12700">
            <a:solidFill>
              <a:srgbClr val="2378B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392277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 가져오기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69848" y="4553712"/>
            <a:ext cx="2871216" cy="813816"/>
          </a:xfrm>
          <a:prstGeom prst="roundRect">
            <a:avLst>
              <a:gd name="adj" fmla="val 12360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5296" y="4736592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73352" y="470001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위치가 확인되었습니다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673352" y="5010912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위도·경도 / GPS 정확도 표시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82312" y="2203704"/>
            <a:ext cx="347472" cy="347472"/>
          </a:xfrm>
          <a:prstGeom prst="ellipse">
            <a:avLst/>
          </a:prstGeom>
          <a:solidFill>
            <a:srgbClr val="2378BD"/>
          </a:solidFill>
          <a:ln w="12700">
            <a:solidFill>
              <a:srgbClr val="2378BD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82312" y="22174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321808" y="2185416"/>
            <a:ext cx="5760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 사용에 동의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5330952" y="25968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 표시를 눌러 주세요.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782312" y="3246120"/>
            <a:ext cx="347472" cy="347472"/>
          </a:xfrm>
          <a:prstGeom prst="ellipse">
            <a:avLst/>
          </a:prstGeom>
          <a:solidFill>
            <a:srgbClr val="2378BD"/>
          </a:solidFill>
          <a:ln w="12700">
            <a:solidFill>
              <a:srgbClr val="2378BD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82312" y="32598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21808" y="3227832"/>
            <a:ext cx="5760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 가져오기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5330952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버튼을 한 번 눌러 주세요.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782312" y="4297680"/>
            <a:ext cx="347472" cy="347472"/>
          </a:xfrm>
          <a:prstGeom prst="ellipse">
            <a:avLst/>
          </a:prstGeom>
          <a:solidFill>
            <a:srgbClr val="2378BD"/>
          </a:solidFill>
          <a:ln w="12700">
            <a:solidFill>
              <a:srgbClr val="2378BD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82312" y="431139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321808" y="4279392"/>
            <a:ext cx="5760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위치가 확인됐는지 보기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5330952" y="4690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주소·지도 또는 위치 정보 표시를 확인하세요.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800600" y="5349240"/>
            <a:ext cx="6318504" cy="521208"/>
          </a:xfrm>
          <a:prstGeom prst="roundRect">
            <a:avLst>
              <a:gd name="adj" fmla="val 21053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01768" y="5468112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위치가 안 잡히면: 실외에서 위치 기능을 확인하고 다시 시도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설치 등록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마지막으로 확인한 뒤 전송합니다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 2장 + 위치 확인 + 동의 → 전송 버튼이 활성화됩니다.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0392" y="1956816"/>
            <a:ext cx="3328416" cy="4123944"/>
          </a:xfrm>
          <a:prstGeom prst="roundRect">
            <a:avLst>
              <a:gd name="adj" fmla="val 9066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5548" y="2084832"/>
            <a:ext cx="3118104" cy="3858768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2039112"/>
            <a:ext cx="786384" cy="109728"/>
          </a:xfrm>
          <a:prstGeom prst="roundRect">
            <a:avLst>
              <a:gd name="adj" fmla="val 50000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249424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340864"/>
            <a:ext cx="2798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확인하고 전송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0704" y="293522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메모 (선택)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0704" y="3273552"/>
            <a:ext cx="2907792" cy="576072"/>
          </a:xfrm>
          <a:prstGeom prst="roundRect">
            <a:avLst>
              <a:gd name="adj" fmla="val 15873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410712"/>
            <a:ext cx="2679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등산로 입구 오른쪽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" y="398678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의용소방대 선택 (선택)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60704" y="4288536"/>
            <a:ext cx="2907792" cy="429768"/>
          </a:xfrm>
          <a:prstGeom prst="roundRect">
            <a:avLst>
              <a:gd name="adj" fmla="val 17021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37997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대대 선택  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0704" y="4846320"/>
            <a:ext cx="2907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☑  사진·위치 전송 및 공개 동의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0704" y="5266944"/>
            <a:ext cx="2907792" cy="566928"/>
          </a:xfrm>
          <a:prstGeom prst="roundRect">
            <a:avLst>
              <a:gd name="adj" fmla="val 16129"/>
            </a:avLst>
          </a:prstGeom>
          <a:solidFill>
            <a:srgbClr val="2378BD"/>
          </a:solidFill>
          <a:ln w="12700">
            <a:solidFill>
              <a:srgbClr val="2378B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2144" y="5440680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사진과 위치 전송하기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2304288"/>
            <a:ext cx="6089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전송 전 3가지 확인</a:t>
            </a:r>
            <a:endParaRPr lang="en-US" sz="25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4608" y="2935224"/>
            <a:ext cx="356616" cy="35661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376672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전·후 사진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653528" y="294436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 2장 미리보기 확인</a:t>
            </a:r>
            <a:endParaRPr lang="en-US" sz="15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4608" y="3703320"/>
            <a:ext cx="356616" cy="35661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76672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7653528" y="3712464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위치가 화면에 나타났는지 확인</a:t>
            </a:r>
            <a:endParaRPr lang="en-US" sz="15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4608" y="4471416"/>
            <a:ext cx="356616" cy="35661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376672" y="4462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 동의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7653528" y="448056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체크한 뒤 전송 버튼 누르기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4864608" y="5449824"/>
            <a:ext cx="6245352" cy="493776"/>
          </a:xfrm>
          <a:prstGeom prst="roundRect">
            <a:avLst>
              <a:gd name="adj" fmla="val 22222"/>
            </a:avLst>
          </a:prstGeom>
          <a:solidFill>
            <a:srgbClr val="FFF7E8"/>
          </a:solidFill>
          <a:ln w="12700">
            <a:solidFill>
              <a:srgbClr val="FFF7E8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029200" y="5559552"/>
            <a:ext cx="5925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“접수 요청 완료” 표시를 확인하고 화면을 닫아 주세요.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정기점검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점검할 소화기를 먼저 선택합니다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소화기의 상태를 확인할 때 사용하는 메뉴입니다.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2104" y="1892808"/>
            <a:ext cx="3502152" cy="4160520"/>
          </a:xfrm>
          <a:prstGeom prst="roundRect">
            <a:avLst>
              <a:gd name="adj" fmla="val 8616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7260" y="2020824"/>
            <a:ext cx="3291840" cy="389534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89988" y="1975104"/>
            <a:ext cx="786384" cy="109728"/>
          </a:xfrm>
          <a:prstGeom prst="roundRect">
            <a:avLst>
              <a:gd name="adj" fmla="val 50000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185416"/>
            <a:ext cx="3191256" cy="502920"/>
          </a:xfrm>
          <a:prstGeom prst="roundRect">
            <a:avLst>
              <a:gd name="adj" fmla="val 21818"/>
            </a:avLst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276856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소화기 점검하기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42416" y="2916936"/>
            <a:ext cx="3081528" cy="1298448"/>
          </a:xfrm>
          <a:prstGeom prst="roundRect">
            <a:avLst>
              <a:gd name="adj" fmla="val 8451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01752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설치된 소화기 지도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71016" y="3611880"/>
            <a:ext cx="2331720" cy="0"/>
          </a:xfrm>
          <a:prstGeom prst="line">
            <a:avLst/>
          </a:prstGeom>
          <a:noFill/>
          <a:ln w="88900">
            <a:solidFill>
              <a:srgbClr val="A9C9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02536" y="3291840"/>
            <a:ext cx="0" cy="704088"/>
          </a:xfrm>
          <a:prstGeom prst="line">
            <a:avLst/>
          </a:prstGeom>
          <a:noFill/>
          <a:ln w="63500">
            <a:solidFill>
              <a:srgbClr val="B5C7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67128" y="3447288"/>
            <a:ext cx="246888" cy="246888"/>
          </a:xfrm>
          <a:prstGeom prst="ellipse">
            <a:avLst/>
          </a:prstGeom>
          <a:solidFill>
            <a:srgbClr val="CF584C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26664" y="3685032"/>
            <a:ext cx="228600" cy="228600"/>
          </a:xfrm>
          <a:prstGeom prst="ellipse">
            <a:avLst/>
          </a:prstGeom>
          <a:solidFill>
            <a:srgbClr val="CF584C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" y="4398264"/>
            <a:ext cx="3081528" cy="548640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97864" y="4581144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점검할 소화기 선택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42416" y="5111496"/>
            <a:ext cx="3081528" cy="566928"/>
          </a:xfrm>
          <a:prstGeom prst="roundRect">
            <a:avLst>
              <a:gd name="adj" fmla="val 16129"/>
            </a:avLst>
          </a:prstGeom>
          <a:solidFill>
            <a:srgbClr val="208A7F"/>
          </a:solidFill>
          <a:ln w="12700">
            <a:solidFill>
              <a:srgbClr val="208A7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" y="5266944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점검하기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965192" y="2148840"/>
            <a:ext cx="347472" cy="347472"/>
          </a:xfrm>
          <a:prstGeom prst="ellipse">
            <a:avLst/>
          </a:prstGeom>
          <a:solidFill>
            <a:srgbClr val="208A7F"/>
          </a:solidFill>
          <a:ln w="12700">
            <a:solidFill>
              <a:srgbClr val="208A7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21625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58968" y="21305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정기점검 선택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477256" y="2578608"/>
            <a:ext cx="5577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화면에서 “소화기 정기점검”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65192" y="3209544"/>
            <a:ext cx="347472" cy="347472"/>
          </a:xfrm>
          <a:prstGeom prst="ellipse">
            <a:avLst/>
          </a:prstGeom>
          <a:solidFill>
            <a:srgbClr val="208A7F"/>
          </a:solidFill>
          <a:ln w="12700">
            <a:solidFill>
              <a:srgbClr val="208A7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32232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58968" y="31912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소화기 찾기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477256" y="3639312"/>
            <a:ext cx="5577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또는 지점 목록에서 선택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65192" y="4270248"/>
            <a:ext cx="347472" cy="347472"/>
          </a:xfrm>
          <a:prstGeom prst="ellipse">
            <a:avLst/>
          </a:prstGeom>
          <a:solidFill>
            <a:srgbClr val="208A7F"/>
          </a:solidFill>
          <a:ln w="12700">
            <a:solidFill>
              <a:srgbClr val="208A7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428396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58968" y="4251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점검하기 누르기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5477256" y="4700016"/>
            <a:ext cx="5577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선택한 지점에서 점검 시작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65192" y="5376672"/>
            <a:ext cx="6254496" cy="502920"/>
          </a:xfrm>
          <a:prstGeom prst="roundRect">
            <a:avLst>
              <a:gd name="adj" fmla="val 18182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9784" y="5495544"/>
            <a:ext cx="5934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QR이 부착된 소화기는 해당 QR로 접근하면 더 간단합니다.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정기점검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위치를 확인하고, 4가지만 점검합니다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 대상에 가까이 있는지 확인한 뒤 결과를 저장합니다.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975104"/>
            <a:ext cx="4690872" cy="3602736"/>
          </a:xfrm>
          <a:prstGeom prst="roundRect">
            <a:avLst>
              <a:gd name="adj" fmla="val 558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5256" y="2221992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17904" y="217627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소화기 가까이에서 위치 확인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0120" y="2889504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설정: 소화기에서 10m 이내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60120" y="3456432"/>
            <a:ext cx="41056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GPS 오차가 있으면 실외에서 다시 확인하세요.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41832" y="4645152"/>
            <a:ext cx="4059936" cy="539496"/>
          </a:xfrm>
          <a:prstGeom prst="roundRect">
            <a:avLst>
              <a:gd name="adj" fmla="val 20339"/>
            </a:avLst>
          </a:prstGeom>
          <a:solidFill>
            <a:srgbClr val="FFF7E8"/>
          </a:solidFill>
          <a:ln w="12700">
            <a:solidFill>
              <a:srgbClr val="FFF7E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06424" y="478231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 장소가 맞는지 먼저 확인!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78424" y="1975104"/>
            <a:ext cx="5852160" cy="3602736"/>
          </a:xfrm>
          <a:prstGeom prst="roundRect">
            <a:avLst>
              <a:gd name="adj" fmla="val 558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16752" y="2304288"/>
            <a:ext cx="374904" cy="374904"/>
          </a:xfrm>
          <a:prstGeom prst="roundRect">
            <a:avLst>
              <a:gd name="adj" fmla="val 19512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62472" y="2331720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574536" y="227685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압력계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723376" y="2304288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정상 범위인지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16752" y="3008376"/>
            <a:ext cx="374904" cy="374904"/>
          </a:xfrm>
          <a:prstGeom prst="roundRect">
            <a:avLst>
              <a:gd name="adj" fmla="val 19512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62472" y="303580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574536" y="298094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안전핀·봉인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723376" y="3008376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훼손되지 않았는지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016752" y="3712464"/>
            <a:ext cx="374904" cy="374904"/>
          </a:xfrm>
          <a:prstGeom prst="roundRect">
            <a:avLst>
              <a:gd name="adj" fmla="val 19512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62472" y="37398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574536" y="368503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용기·호스·거치대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723376" y="3712464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파손이 없는지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016752" y="4416552"/>
            <a:ext cx="374904" cy="374904"/>
          </a:xfrm>
          <a:prstGeom prst="roundRect">
            <a:avLst>
              <a:gd name="adj" fmla="val 19512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62472" y="444398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574536" y="438912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접근·주변 환경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723376" y="4416552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사용하기에 방해가 없는지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998464" y="5184648"/>
            <a:ext cx="5257800" cy="365760"/>
          </a:xfrm>
          <a:prstGeom prst="roundRect">
            <a:avLst>
              <a:gd name="adj" fmla="val 25000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81344" y="525780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소속 대대·점검 메모 입력 → 점검 완료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/ 이상 신고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소화기에 문제가 생기면 즉시 신고하세요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종류를 선택하고 현장 상황을 적으면 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96112" y="1920240"/>
            <a:ext cx="3282696" cy="4133088"/>
          </a:xfrm>
          <a:prstGeom prst="roundRect">
            <a:avLst>
              <a:gd name="adj" fmla="val 9192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" y="2048256"/>
            <a:ext cx="3072384" cy="38679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4268" y="2002536"/>
            <a:ext cx="786384" cy="109728"/>
          </a:xfrm>
          <a:prstGeom prst="roundRect">
            <a:avLst>
              <a:gd name="adj" fmla="val 50000"/>
            </a:avLst>
          </a:prstGeom>
          <a:solidFill>
            <a:srgbClr val="0E223E"/>
          </a:solidFill>
          <a:ln w="12700">
            <a:solidFill>
              <a:srgbClr val="0E223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212848"/>
            <a:ext cx="2971800" cy="502920"/>
          </a:xfrm>
          <a:prstGeom prst="roundRect">
            <a:avLst>
              <a:gd name="adj" fmla="val 21818"/>
            </a:avLst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04288"/>
            <a:ext cx="2752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고장·이상 신고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06424" y="2926080"/>
            <a:ext cx="2862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종류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06424" y="3273552"/>
            <a:ext cx="2862072" cy="292608"/>
          </a:xfrm>
          <a:prstGeom prst="roundRect">
            <a:avLst>
              <a:gd name="adj" fmla="val 21875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33298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○  소화기 없음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06424" y="3630168"/>
            <a:ext cx="2862072" cy="292608"/>
          </a:xfrm>
          <a:prstGeom prst="roundRect">
            <a:avLst>
              <a:gd name="adj" fmla="val 21875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68960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○  사용·교체 필요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06424" y="3986784"/>
            <a:ext cx="2862072" cy="292608"/>
          </a:xfrm>
          <a:prstGeom prst="roundRect">
            <a:avLst>
              <a:gd name="adj" fmla="val 21875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0462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 파손·거치 불량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06424" y="4343400"/>
            <a:ext cx="2862072" cy="292608"/>
          </a:xfrm>
          <a:prstGeom prst="roundRect">
            <a:avLst>
              <a:gd name="adj" fmla="val 21875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40283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○  접근 곤란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06424" y="4700016"/>
            <a:ext cx="2862072" cy="292608"/>
          </a:xfrm>
          <a:prstGeom prst="roundRect">
            <a:avLst>
              <a:gd name="adj" fmla="val 21875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7594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○  기타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06424" y="5184648"/>
            <a:ext cx="2862072" cy="420624"/>
          </a:xfrm>
          <a:prstGeom prst="roundRect">
            <a:avLst>
              <a:gd name="adj" fmla="val 17391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5294376"/>
            <a:ext cx="2660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상황을 자세히 적어 주세요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06424" y="5669280"/>
            <a:ext cx="2862072" cy="365760"/>
          </a:xfrm>
          <a:prstGeom prst="roundRect">
            <a:avLst>
              <a:gd name="adj" fmla="val 20000"/>
            </a:avLst>
          </a:prstGeom>
          <a:solidFill>
            <a:srgbClr val="CF584C"/>
          </a:solidFill>
          <a:ln w="12700">
            <a:solidFill>
              <a:srgbClr val="CF584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9576" y="5733288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신고 접수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37176" y="2203704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신고할 때 기억할 점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4837176" y="3017520"/>
            <a:ext cx="109728" cy="109728"/>
          </a:xfrm>
          <a:prstGeom prst="ellipse">
            <a:avLst/>
          </a:prstGeom>
          <a:solidFill>
            <a:srgbClr val="CF584C"/>
          </a:solidFill>
          <a:ln w="12700">
            <a:solidFill>
              <a:srgbClr val="CF584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898648"/>
            <a:ext cx="5980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있는 소화기를 먼저 선택합니다.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837176" y="3730752"/>
            <a:ext cx="109728" cy="109728"/>
          </a:xfrm>
          <a:prstGeom prst="ellipse">
            <a:avLst/>
          </a:prstGeom>
          <a:solidFill>
            <a:srgbClr val="CF584C"/>
          </a:solidFill>
          <a:ln w="12700">
            <a:solidFill>
              <a:srgbClr val="CF584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611880"/>
            <a:ext cx="5980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고장·분실·파손 등 해당 항목을 고릅니다.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837176" y="4443984"/>
            <a:ext cx="109728" cy="109728"/>
          </a:xfrm>
          <a:prstGeom prst="ellipse">
            <a:avLst/>
          </a:prstGeom>
          <a:solidFill>
            <a:srgbClr val="CF584C"/>
          </a:solidFill>
          <a:ln w="12700">
            <a:solidFill>
              <a:srgbClr val="CF584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4325112"/>
            <a:ext cx="5980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상황과 필요한 조치를 적습니다.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837176" y="5148072"/>
            <a:ext cx="6336792" cy="630936"/>
          </a:xfrm>
          <a:prstGeom prst="roundRect">
            <a:avLst>
              <a:gd name="adj" fmla="val 20290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38344" y="5330952"/>
            <a:ext cx="5952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중요: 이상 신고는 이메일이 아니라 관리자 목록에 기록됩니다.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/ 문제 해결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 될 때는 이 순서대로 확인하세요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대부분은 사진·위치·동의 또는 휴대전화 권한 문제입니다.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" y="1920240"/>
            <a:ext cx="53492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103120"/>
            <a:ext cx="694944" cy="694944"/>
          </a:xfrm>
          <a:prstGeom prst="roundRect">
            <a:avLst>
              <a:gd name="adj" fmla="val 18421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212848"/>
            <a:ext cx="429768" cy="4297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55064" y="2066544"/>
            <a:ext cx="4087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전송 버튼이 회색이에요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55064" y="2569464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전·후 사진 2장,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 확인, 마지막 동의 체크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99632" y="1920240"/>
            <a:ext cx="53492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55080" y="2103120"/>
            <a:ext cx="694944" cy="694944"/>
          </a:xfrm>
          <a:prstGeom prst="roundRect">
            <a:avLst>
              <a:gd name="adj" fmla="val 18421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3096" y="2212848"/>
            <a:ext cx="429768" cy="4297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066544"/>
            <a:ext cx="4087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위치가 안 잡혀요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223760" y="2569464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휴대전화 위치 켜기 → 권한 허용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실외에서 다시 확인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30936" y="3739896"/>
            <a:ext cx="53492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922776"/>
            <a:ext cx="694944" cy="694944"/>
          </a:xfrm>
          <a:prstGeom prst="roundRect">
            <a:avLst>
              <a:gd name="adj" fmla="val 18421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032504"/>
            <a:ext cx="429768" cy="4297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55064" y="3886200"/>
            <a:ext cx="4087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소화기 앞인데 점검이 안 돼요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1655064" y="4389120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GPS 정확도와 10m 거리 확인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위치를 다시 받아보세요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199632" y="3739896"/>
            <a:ext cx="53492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355080" y="3922776"/>
            <a:ext cx="694944" cy="694944"/>
          </a:xfrm>
          <a:prstGeom prst="roundRect">
            <a:avLst>
              <a:gd name="adj" fmla="val 18421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3096" y="4032504"/>
            <a:ext cx="429768" cy="4297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23760" y="3886200"/>
            <a:ext cx="4087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사진·화면이 넘어가지 않아요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223760" y="4389120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인터넷 확인 → Chrome/Safari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그래도 안 되면 관리자에게 문의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B4B"/>
          </a:solidFill>
          <a:ln w="12700">
            <a:solidFill>
              <a:srgbClr val="142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365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/ 현장 실습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5분만 같이 해보면 금방 익숙해집니다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 중에는 각 화면을 한 번씩 눌러보는 방식이 가장 효과적입니다.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" y="6364224"/>
            <a:ext cx="11000232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55664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영종소방서 의용소방대  ·  소화기 관리프로그램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16768" y="64465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" y="2075688"/>
            <a:ext cx="3584448" cy="2926080"/>
          </a:xfrm>
          <a:prstGeom prst="roundRect">
            <a:avLst>
              <a:gd name="adj" fmla="val 6563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286000"/>
            <a:ext cx="3218688" cy="749808"/>
          </a:xfrm>
          <a:prstGeom prst="roundRect">
            <a:avLst>
              <a:gd name="adj" fmla="val 15854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2450592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17904" y="247802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" y="3273552"/>
            <a:ext cx="3099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등록 열어보기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50976" y="3913632"/>
            <a:ext cx="2916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 2장을 고르는 위치와 GPS 버튼 찾기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98264" y="2075688"/>
            <a:ext cx="3584448" cy="2926080"/>
          </a:xfrm>
          <a:prstGeom prst="roundRect">
            <a:avLst>
              <a:gd name="adj" fmla="val 6563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81144" y="2286000"/>
            <a:ext cx="3218688" cy="749808"/>
          </a:xfrm>
          <a:prstGeom prst="roundRect">
            <a:avLst>
              <a:gd name="adj" fmla="val 15854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6592" y="2450592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12664" y="247802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36008" y="3273552"/>
            <a:ext cx="3099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정기점검 열어보기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4745736" y="3913632"/>
            <a:ext cx="2916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지도에서 소화기 선택하고 점검 항목 확인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8193024" y="2075688"/>
            <a:ext cx="3584448" cy="2926080"/>
          </a:xfrm>
          <a:prstGeom prst="roundRect">
            <a:avLst>
              <a:gd name="adj" fmla="val 6563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375904" y="2286000"/>
            <a:ext cx="3218688" cy="749808"/>
          </a:xfrm>
          <a:prstGeom prst="roundRect">
            <a:avLst>
              <a:gd name="adj" fmla="val 15854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1352" y="2450592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07424" y="247802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3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430768" y="3273552"/>
            <a:ext cx="3099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신고 열어보기</a:t>
            </a:r>
            <a:endParaRPr lang="en-US" sz="2100" dirty="0"/>
          </a:p>
        </p:txBody>
      </p:sp>
      <p:sp>
        <p:nvSpPr>
          <p:cNvPr id="26" name="Text 21"/>
          <p:cNvSpPr/>
          <p:nvPr/>
        </p:nvSpPr>
        <p:spPr>
          <a:xfrm>
            <a:off x="8540496" y="3913632"/>
            <a:ext cx="2916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7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 항목과 메모 입력 위치 확인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1280160" y="5321808"/>
            <a:ext cx="9628632" cy="621792"/>
          </a:xfrm>
          <a:prstGeom prst="roundRect">
            <a:avLst>
              <a:gd name="adj" fmla="val 19118"/>
            </a:avLst>
          </a:prstGeom>
          <a:solidFill>
            <a:srgbClr val="FFF7E8"/>
          </a:solidFill>
          <a:ln w="12700">
            <a:solidFill>
              <a:srgbClr val="FFF7E8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1328" y="5449824"/>
            <a:ext cx="338328" cy="33832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011680" y="5449824"/>
            <a:ext cx="8641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실습에서는 실제 접수·신고를 제출하지 말고, 관리자 안내에 따라 테스트하세요.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30352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이것만 기억하세요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95528" y="1298448"/>
            <a:ext cx="106161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4E9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하실 일에 맞는 버튼 하나 → 안내 순서대로 → 완료 확인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6492240" cy="83210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2860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9928" y="2286000"/>
            <a:ext cx="3447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 설치했다면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93792" y="2304288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641848" y="2322576"/>
            <a:ext cx="1426464" cy="310896"/>
          </a:xfrm>
          <a:prstGeom prst="roundRect">
            <a:avLst>
              <a:gd name="adj" fmla="val 32353"/>
            </a:avLst>
          </a:prstGeom>
          <a:solidFill>
            <a:srgbClr val="EBF4FD"/>
          </a:solidFill>
          <a:ln w="12700">
            <a:solidFill>
              <a:srgbClr val="EBF4FD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51576" y="235458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7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등록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200400"/>
            <a:ext cx="6492240" cy="83210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128" y="3383280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09928" y="3383280"/>
            <a:ext cx="3447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소화기를 확인한다면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193792" y="3401568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641848" y="3419856"/>
            <a:ext cx="1426464" cy="310896"/>
          </a:xfrm>
          <a:prstGeom prst="roundRect">
            <a:avLst>
              <a:gd name="adj" fmla="val 32353"/>
            </a:avLst>
          </a:prstGeom>
          <a:solidFill>
            <a:srgbClr val="E9F7F3"/>
          </a:solidFill>
          <a:ln w="12700">
            <a:solidFill>
              <a:srgbClr val="E9F7F3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51576" y="345186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8A7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정기점검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" y="4297680"/>
            <a:ext cx="6492240" cy="83210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4128" y="4480560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9928" y="4480560"/>
            <a:ext cx="3447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문제를 발견했다면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193792" y="4498848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5641848" y="4517136"/>
            <a:ext cx="1426464" cy="310896"/>
          </a:xfrm>
          <a:prstGeom prst="roundRect">
            <a:avLst>
              <a:gd name="adj" fmla="val 32353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751576" y="45491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584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신고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577072" y="2039112"/>
            <a:ext cx="2642616" cy="2788920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/mnt/data/yj_site_q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0264" y="2258568"/>
            <a:ext cx="1874520" cy="18745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759952" y="4306824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B4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QR코드를 스캔하세요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14816" y="5029200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DDF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바로가기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955280" y="566013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DF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seunghoe119-art.github.io/YJfireclimbing/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86384" y="646480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8CD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3분할 시작 화면은 새 구조를 반영한 교육용 예시이며 실제 배포 화면과 다를 수 있습니다.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Training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영종소방서 의용소방대 소화기 관리프로그램 - 누구나 쉽게 따라하는 사용 안내</dc:title>
  <dc:subject>영종소방서 의용소방대 소화기 관리프로그램 사용 교육</dc:subject>
  <dc:creator>OpenAI</dc:creator>
  <cp:lastModifiedBy>OpenAI</cp:lastModifiedBy>
  <cp:revision>1</cp:revision>
  <dcterms:created xsi:type="dcterms:W3CDTF">2026-10-24T13:25:31Z</dcterms:created>
  <dcterms:modified xsi:type="dcterms:W3CDTF">2026-10-24T13:25:31Z</dcterms:modified>
</cp:coreProperties>
</file>